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56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17DE24-2BF2-43D9-8367-A8F8E203D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0777D2-6100-4C16-A201-5C8F5721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D8DC47-F30A-47D2-A157-E43295B35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D2AC6B-F18C-4E98-9670-C64F3E06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1E854F-4AE4-4C88-9428-63068EAC2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774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3D74A-06E3-4EEC-BF8A-4B64BB2A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F0909A-2EB6-4C79-875D-4856EA4F6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99ACB6-A324-4908-B380-35E015EEB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8A0CF6-D9FB-49C5-9606-98202F2C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0BC1BA-CD41-44BF-B2D5-4E4CFE72B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6582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EAA2A3-4916-472A-B742-1AB89339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33ACBF-C630-4783-B943-EB3AC6D44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0AF07B-A403-4DD8-AB29-2D54F52F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10008C-F879-48CD-8891-EC76828BC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D5F906-9651-4D93-B31E-A538CEEB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247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76707-7D01-45DD-A368-EE342B2E1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FE24B0-78F2-4FFE-B74F-0644FF1B6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898D3A-059E-4498-8072-F303FC414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F59E41-C8B7-4D6F-A725-CFF2FC5A4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49AE6A-BF26-4BBB-A28A-20F061CC3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04B878-9057-4D84-AAD5-135EB91AC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44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C6F35D-61C9-46A3-9FA7-43D423F3E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E51D12-C1F1-4B03-A8AE-4C2EF0A25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BE0352-6BE0-4DE3-87DD-7385710D6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F81DF77-E241-4AA5-8955-88A63DA31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ED29DE3-4419-4A61-850E-F57936345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920291-F0BB-451D-A07C-80A88F7D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D012375-91FB-4B25-B980-2C31527B9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5CDBD88-CBF4-41DA-A4ED-F2F015EC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1809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793CD4-70FC-483F-AE72-55CACC62F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AB43826-3FCB-43AF-AC66-1DC9AB071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775DEA9-27D5-4C4A-8B03-C8F95C5B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352A8B3-FB21-4DD8-9778-2260ABC4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4830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2E6CC8C-7A75-48F4-BD24-F25714AD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80D6B75-D2B0-4E86-B432-F5D1C5AD1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48147D-8651-4742-B83B-46073841A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073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557622-9F1C-4390-B2A9-27224B7B8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B8A98E-856E-4C13-B6FF-EE450F483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AA4B5C-94F1-48C2-83DD-2BA7F5D11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4E7255-E190-4C24-8E8F-59F64860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A49045-6213-4FC2-AB7C-7794EE20F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6D33E7-68AE-483C-B88C-DDFA7B47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421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94C116-922A-4673-8786-FD73F0260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9E50549-4B76-4709-9D13-A70ABBB95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C7A2701-5B08-4EFA-8A4E-C156544BC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11CF13-B12F-4B6B-8EC7-7DFE4481A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2E5D37-8430-43CF-8C13-E7B907FC1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E18A53-BC84-4BE0-8D4B-9026394A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430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046D54-4F2C-42B2-BD9D-D7300596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4C5672-5CAB-41E2-BF4A-3E33FC2EC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AEB914-F762-4BD7-97CC-E611C60FB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2D2399-6A3D-4E63-B9DB-EB69FBB5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7B8AC4-EEDB-42A2-BC8C-55F1ECA2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88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0CF8ED8-508F-4C42-82E1-09E5BAD82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CB1454-2832-49C0-BEE1-92E35AF59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E30414-F9C7-47AA-80C1-A880B15E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3AEE36-3EC0-4A47-BCAD-FE9A8BA62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0C440E-A5C6-4BB5-8A47-7317F989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5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99E1751-35A3-41D2-B0AF-B3BA96FC2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1051C2-1334-4CE1-A861-A08F16B8A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4ECB9B-47A3-46C6-8E58-009DEED47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0407E-E631-472F-91E7-D3DCF6E9E287}" type="datetimeFigureOut">
              <a:rPr kumimoji="1" lang="ja-JP" altLang="en-US" smtClean="0"/>
              <a:t>2025/6/27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0DC7B9-019B-490E-A5DA-C328A0F51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289A07-7EFE-4CF8-BA3A-4AF4EFD6C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35E80-5650-4F7F-8B20-392CF1AADD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45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0278CF63-5B18-4059-822C-880FDA554E75}"/>
              </a:ext>
            </a:extLst>
          </p:cNvPr>
          <p:cNvSpPr/>
          <p:nvPr/>
        </p:nvSpPr>
        <p:spPr>
          <a:xfrm>
            <a:off x="5247419" y="3829725"/>
            <a:ext cx="2418322" cy="189974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28C4BFC-885D-4248-B0C2-02CBB67351CE}"/>
              </a:ext>
            </a:extLst>
          </p:cNvPr>
          <p:cNvSpPr/>
          <p:nvPr/>
        </p:nvSpPr>
        <p:spPr>
          <a:xfrm>
            <a:off x="1070657" y="1850163"/>
            <a:ext cx="2430684" cy="169877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9750268-F14C-4822-9680-1FCEE01D0D09}"/>
              </a:ext>
            </a:extLst>
          </p:cNvPr>
          <p:cNvSpPr txBox="1"/>
          <p:nvPr/>
        </p:nvSpPr>
        <p:spPr>
          <a:xfrm>
            <a:off x="1638632" y="614561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Dynamixel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DA781C7-437B-4825-804D-32AEC52654CF}"/>
              </a:ext>
            </a:extLst>
          </p:cNvPr>
          <p:cNvSpPr txBox="1"/>
          <p:nvPr/>
        </p:nvSpPr>
        <p:spPr>
          <a:xfrm>
            <a:off x="5773352" y="614561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Robot Joint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A6D79A-9DA9-4BCA-A25D-9E09BA50CC22}"/>
              </a:ext>
            </a:extLst>
          </p:cNvPr>
          <p:cNvSpPr txBox="1"/>
          <p:nvPr/>
        </p:nvSpPr>
        <p:spPr>
          <a:xfrm>
            <a:off x="1129599" y="1199136"/>
            <a:ext cx="857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/>
              <a:t>通信初期化</a:t>
            </a:r>
            <a:endParaRPr kumimoji="1" lang="ja-JP" altLang="en-US" sz="105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EE5AF87-9556-426D-AC7A-E36C7390D8B1}"/>
              </a:ext>
            </a:extLst>
          </p:cNvPr>
          <p:cNvSpPr txBox="1"/>
          <p:nvPr/>
        </p:nvSpPr>
        <p:spPr>
          <a:xfrm>
            <a:off x="1179660" y="2305790"/>
            <a:ext cx="15151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Operation Mode</a:t>
            </a:r>
            <a:r>
              <a:rPr lang="ja-JP" altLang="en-US" sz="1050" dirty="0"/>
              <a:t>設定</a:t>
            </a:r>
            <a:endParaRPr kumimoji="1" lang="ja-JP" altLang="en-US" sz="105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7C439E1-B72F-43FA-8D95-8D187E438E11}"/>
              </a:ext>
            </a:extLst>
          </p:cNvPr>
          <p:cNvSpPr txBox="1"/>
          <p:nvPr/>
        </p:nvSpPr>
        <p:spPr>
          <a:xfrm>
            <a:off x="1179660" y="1983272"/>
            <a:ext cx="14237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Homing offset </a:t>
            </a:r>
            <a:r>
              <a:rPr lang="ja-JP" altLang="en-US" sz="1050" dirty="0"/>
              <a:t>設定</a:t>
            </a:r>
            <a:endParaRPr kumimoji="1" lang="ja-JP" altLang="en-US" sz="105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ED15A63-9104-422C-95D0-3D9B5681F84A}"/>
              </a:ext>
            </a:extLst>
          </p:cNvPr>
          <p:cNvSpPr txBox="1"/>
          <p:nvPr/>
        </p:nvSpPr>
        <p:spPr>
          <a:xfrm>
            <a:off x="1179660" y="2628308"/>
            <a:ext cx="1438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Reverse Mode </a:t>
            </a:r>
            <a:r>
              <a:rPr lang="ja-JP" altLang="en-US" sz="1050" dirty="0"/>
              <a:t>設定</a:t>
            </a:r>
            <a:endParaRPr kumimoji="1" lang="ja-JP" altLang="en-US" sz="105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312B692-7863-47D5-B186-8860938A92CA}"/>
              </a:ext>
            </a:extLst>
          </p:cNvPr>
          <p:cNvSpPr txBox="1"/>
          <p:nvPr/>
        </p:nvSpPr>
        <p:spPr>
          <a:xfrm>
            <a:off x="1192196" y="2918328"/>
            <a:ext cx="21868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Time/Velocity profile Mode </a:t>
            </a:r>
            <a:r>
              <a:rPr lang="ja-JP" altLang="en-US" sz="1050" dirty="0"/>
              <a:t>設定</a:t>
            </a:r>
            <a:endParaRPr kumimoji="1" lang="ja-JP" altLang="en-US" sz="1050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15ADEAE-1D83-4D7A-8FDE-B4A4199D40AB}"/>
              </a:ext>
            </a:extLst>
          </p:cNvPr>
          <p:cNvSpPr/>
          <p:nvPr/>
        </p:nvSpPr>
        <p:spPr>
          <a:xfrm>
            <a:off x="1070657" y="1166038"/>
            <a:ext cx="2430684" cy="51515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66A15A1-8E5E-4ACC-A1C5-E17011D60BF7}"/>
              </a:ext>
            </a:extLst>
          </p:cNvPr>
          <p:cNvSpPr txBox="1"/>
          <p:nvPr/>
        </p:nvSpPr>
        <p:spPr>
          <a:xfrm>
            <a:off x="1135783" y="1414379"/>
            <a:ext cx="12538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Dynamixel id</a:t>
            </a:r>
            <a:r>
              <a:rPr lang="ja-JP" altLang="en-US" sz="1050" dirty="0"/>
              <a:t>認識</a:t>
            </a:r>
            <a:endParaRPr kumimoji="1" lang="ja-JP" altLang="en-US" sz="1050" dirty="0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FC7FB6B0-6C84-409C-931A-4A724EC26BE7}"/>
              </a:ext>
            </a:extLst>
          </p:cNvPr>
          <p:cNvSpPr/>
          <p:nvPr/>
        </p:nvSpPr>
        <p:spPr>
          <a:xfrm>
            <a:off x="1140112" y="3862878"/>
            <a:ext cx="2309144" cy="202058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D6EBDCA-667D-4D53-ADAB-0A3576BB0F1A}"/>
              </a:ext>
            </a:extLst>
          </p:cNvPr>
          <p:cNvSpPr txBox="1"/>
          <p:nvPr/>
        </p:nvSpPr>
        <p:spPr>
          <a:xfrm>
            <a:off x="1684119" y="3958083"/>
            <a:ext cx="105509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/>
              <a:t>状態取得</a:t>
            </a:r>
            <a:endParaRPr lang="en-US" altLang="ja-JP" sz="1050" dirty="0"/>
          </a:p>
          <a:p>
            <a:r>
              <a:rPr lang="ja-JP" altLang="en-US" sz="1050" dirty="0"/>
              <a:t>現在角度</a:t>
            </a:r>
            <a:r>
              <a:rPr lang="en-US" altLang="ja-JP" sz="1050" dirty="0"/>
              <a:t>(raw)</a:t>
            </a:r>
          </a:p>
          <a:p>
            <a:r>
              <a:rPr lang="ja-JP" altLang="en-US" sz="1050" dirty="0"/>
              <a:t>現在速度</a:t>
            </a:r>
            <a:r>
              <a:rPr lang="en-US" altLang="ja-JP" sz="1050" dirty="0"/>
              <a:t>(raw)</a:t>
            </a:r>
          </a:p>
          <a:p>
            <a:r>
              <a:rPr lang="ja-JP" altLang="en-US" sz="1050" dirty="0"/>
              <a:t>現在電流</a:t>
            </a:r>
            <a:r>
              <a:rPr lang="en-US" altLang="ja-JP" sz="1050" dirty="0"/>
              <a:t>(raw)</a:t>
            </a:r>
            <a:endParaRPr kumimoji="1" lang="ja-JP" altLang="en-US" sz="105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9251094-15EA-4F70-B210-302A396223D7}"/>
              </a:ext>
            </a:extLst>
          </p:cNvPr>
          <p:cNvSpPr txBox="1"/>
          <p:nvPr/>
        </p:nvSpPr>
        <p:spPr>
          <a:xfrm>
            <a:off x="1705887" y="4841267"/>
            <a:ext cx="105509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/>
              <a:t>制御出力</a:t>
            </a:r>
            <a:endParaRPr lang="en-US" altLang="ja-JP" sz="1050" dirty="0"/>
          </a:p>
          <a:p>
            <a:r>
              <a:rPr lang="ja-JP" altLang="en-US" sz="1050" dirty="0"/>
              <a:t>目標角度</a:t>
            </a:r>
            <a:r>
              <a:rPr lang="en-US" altLang="ja-JP" sz="1050" dirty="0"/>
              <a:t>(raw)</a:t>
            </a:r>
          </a:p>
          <a:p>
            <a:r>
              <a:rPr lang="ja-JP" altLang="en-US" sz="1050" dirty="0"/>
              <a:t>目標速度</a:t>
            </a:r>
            <a:r>
              <a:rPr lang="en-US" altLang="ja-JP" sz="1050" dirty="0"/>
              <a:t>(raw)</a:t>
            </a:r>
          </a:p>
          <a:p>
            <a:r>
              <a:rPr lang="ja-JP" altLang="en-US" sz="1050" dirty="0"/>
              <a:t>目標電流</a:t>
            </a:r>
            <a:r>
              <a:rPr lang="en-US" altLang="ja-JP" sz="1050" dirty="0"/>
              <a:t>(raw)</a:t>
            </a:r>
            <a:endParaRPr kumimoji="1" lang="ja-JP" altLang="en-US" sz="105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380DF7C-DA41-4DC6-947E-295783A38384}"/>
              </a:ext>
            </a:extLst>
          </p:cNvPr>
          <p:cNvSpPr txBox="1"/>
          <p:nvPr/>
        </p:nvSpPr>
        <p:spPr>
          <a:xfrm>
            <a:off x="1181264" y="3200654"/>
            <a:ext cx="142218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/>
              <a:t>トルク</a:t>
            </a:r>
            <a:r>
              <a:rPr lang="en-US" altLang="ja-JP" sz="1050" dirty="0"/>
              <a:t>ON/OFF </a:t>
            </a:r>
            <a:r>
              <a:rPr lang="ja-JP" altLang="en-US" sz="1050" dirty="0"/>
              <a:t>設定</a:t>
            </a:r>
            <a:endParaRPr kumimoji="1" lang="ja-JP" altLang="en-US" sz="105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B647549-5AF3-4DC4-A042-86ED4C4E8507}"/>
              </a:ext>
            </a:extLst>
          </p:cNvPr>
          <p:cNvSpPr txBox="1"/>
          <p:nvPr/>
        </p:nvSpPr>
        <p:spPr>
          <a:xfrm>
            <a:off x="3747267" y="3975445"/>
            <a:ext cx="120898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/>
              <a:t>単位変換</a:t>
            </a:r>
            <a:endParaRPr lang="en-US" altLang="ja-JP" sz="1050" dirty="0"/>
          </a:p>
          <a:p>
            <a:r>
              <a:rPr lang="ja-JP" altLang="en-US" sz="1050" dirty="0"/>
              <a:t>現在角度</a:t>
            </a:r>
            <a:r>
              <a:rPr lang="en-US" altLang="ja-JP" sz="1050" dirty="0"/>
              <a:t>(deg)</a:t>
            </a:r>
          </a:p>
          <a:p>
            <a:r>
              <a:rPr lang="ja-JP" altLang="en-US" sz="1050" dirty="0"/>
              <a:t>現在速度</a:t>
            </a:r>
            <a:r>
              <a:rPr lang="en-US" altLang="ja-JP" sz="1050" dirty="0"/>
              <a:t>(deg/s)</a:t>
            </a:r>
          </a:p>
          <a:p>
            <a:r>
              <a:rPr lang="ja-JP" altLang="en-US" sz="1050" dirty="0"/>
              <a:t>現在電流</a:t>
            </a:r>
            <a:r>
              <a:rPr lang="en-US" altLang="ja-JP" sz="1050" dirty="0"/>
              <a:t>(mA)</a:t>
            </a:r>
            <a:endParaRPr kumimoji="1" lang="ja-JP" altLang="en-US" sz="1050" dirty="0"/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D7188D21-49C7-4FD0-AAD2-03F8A937EE1C}"/>
              </a:ext>
            </a:extLst>
          </p:cNvPr>
          <p:cNvSpPr/>
          <p:nvPr/>
        </p:nvSpPr>
        <p:spPr>
          <a:xfrm>
            <a:off x="2692587" y="4200166"/>
            <a:ext cx="1101685" cy="2544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7E8793E-2CED-4EF5-9B63-B4C854FDB9C9}"/>
              </a:ext>
            </a:extLst>
          </p:cNvPr>
          <p:cNvSpPr txBox="1"/>
          <p:nvPr/>
        </p:nvSpPr>
        <p:spPr>
          <a:xfrm>
            <a:off x="3768570" y="4840622"/>
            <a:ext cx="118814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/>
              <a:t>単位変換</a:t>
            </a:r>
            <a:endParaRPr lang="en-US" altLang="ja-JP" sz="1050" dirty="0"/>
          </a:p>
          <a:p>
            <a:r>
              <a:rPr lang="ja-JP" altLang="en-US" sz="1050" dirty="0"/>
              <a:t>目標角度</a:t>
            </a:r>
            <a:r>
              <a:rPr lang="en-US" altLang="ja-JP" sz="1050" dirty="0"/>
              <a:t>(deg)</a:t>
            </a:r>
          </a:p>
          <a:p>
            <a:r>
              <a:rPr lang="ja-JP" altLang="en-US" sz="1050" dirty="0"/>
              <a:t>目標速度</a:t>
            </a:r>
            <a:r>
              <a:rPr lang="en-US" altLang="ja-JP" sz="1050" dirty="0"/>
              <a:t>(deg/s)</a:t>
            </a:r>
          </a:p>
          <a:p>
            <a:r>
              <a:rPr lang="ja-JP" altLang="en-US" sz="1050" dirty="0"/>
              <a:t>目標電流</a:t>
            </a:r>
            <a:r>
              <a:rPr lang="en-US" altLang="ja-JP" sz="1050" dirty="0"/>
              <a:t>(mA)</a:t>
            </a:r>
            <a:endParaRPr kumimoji="1" lang="ja-JP" altLang="en-US" sz="1050" dirty="0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7123A49D-6C6D-4BDF-8689-04BC3C670074}"/>
              </a:ext>
            </a:extLst>
          </p:cNvPr>
          <p:cNvSpPr/>
          <p:nvPr/>
        </p:nvSpPr>
        <p:spPr>
          <a:xfrm rot="10800000">
            <a:off x="2674625" y="5065343"/>
            <a:ext cx="1134671" cy="2544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08B5514-F093-4B35-950C-440653063626}"/>
              </a:ext>
            </a:extLst>
          </p:cNvPr>
          <p:cNvSpPr txBox="1"/>
          <p:nvPr/>
        </p:nvSpPr>
        <p:spPr>
          <a:xfrm>
            <a:off x="5592435" y="3962986"/>
            <a:ext cx="1164101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/>
              <a:t>単位変換</a:t>
            </a:r>
            <a:endParaRPr lang="en-US" altLang="ja-JP" sz="1050" dirty="0"/>
          </a:p>
          <a:p>
            <a:r>
              <a:rPr lang="ja-JP" altLang="en-US" sz="1050" dirty="0"/>
              <a:t>現在角度</a:t>
            </a:r>
            <a:r>
              <a:rPr lang="en-US" altLang="ja-JP" sz="1050" dirty="0"/>
              <a:t>(rad)</a:t>
            </a:r>
          </a:p>
          <a:p>
            <a:r>
              <a:rPr lang="ja-JP" altLang="en-US" sz="1050" dirty="0"/>
              <a:t>現在速度</a:t>
            </a:r>
            <a:r>
              <a:rPr lang="en-US" altLang="ja-JP" sz="1050" dirty="0"/>
              <a:t>(rad/s)</a:t>
            </a:r>
          </a:p>
          <a:p>
            <a:r>
              <a:rPr lang="ja-JP" altLang="en-US" sz="1050" dirty="0"/>
              <a:t>現在電流</a:t>
            </a:r>
            <a:r>
              <a:rPr lang="en-US" altLang="ja-JP" sz="1050" dirty="0"/>
              <a:t>(A)</a:t>
            </a:r>
            <a:endParaRPr kumimoji="1" lang="ja-JP" altLang="en-US" sz="1050" dirty="0"/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2ADB05DA-1B1F-4519-A4C4-9EDBBD483ED0}"/>
              </a:ext>
            </a:extLst>
          </p:cNvPr>
          <p:cNvSpPr/>
          <p:nvPr/>
        </p:nvSpPr>
        <p:spPr>
          <a:xfrm>
            <a:off x="4878728" y="4200166"/>
            <a:ext cx="758140" cy="2544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A02E6DE-B9E2-4E2F-86BF-51452657DA67}"/>
              </a:ext>
            </a:extLst>
          </p:cNvPr>
          <p:cNvSpPr txBox="1"/>
          <p:nvPr/>
        </p:nvSpPr>
        <p:spPr>
          <a:xfrm>
            <a:off x="5597842" y="4775193"/>
            <a:ext cx="118333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 sz="1050" dirty="0"/>
              <a:t>単位変換</a:t>
            </a:r>
            <a:endParaRPr lang="en-US" altLang="ja-JP" sz="1050" dirty="0"/>
          </a:p>
          <a:p>
            <a:r>
              <a:rPr lang="ja-JP" altLang="en-US" sz="1050" dirty="0"/>
              <a:t>目標角度</a:t>
            </a:r>
            <a:r>
              <a:rPr lang="en-US" altLang="ja-JP" sz="1050" dirty="0"/>
              <a:t>(rad)</a:t>
            </a:r>
          </a:p>
          <a:p>
            <a:r>
              <a:rPr lang="ja-JP" altLang="en-US" sz="1050" dirty="0"/>
              <a:t>目標速度</a:t>
            </a:r>
            <a:r>
              <a:rPr lang="en-US" altLang="ja-JP" sz="1050" dirty="0"/>
              <a:t>(rad/s)</a:t>
            </a:r>
          </a:p>
          <a:p>
            <a:r>
              <a:rPr lang="ja-JP" altLang="en-US" sz="1050" dirty="0"/>
              <a:t>目標電流</a:t>
            </a:r>
            <a:r>
              <a:rPr lang="en-US" altLang="ja-JP" sz="1050" dirty="0"/>
              <a:t>(A)</a:t>
            </a:r>
            <a:endParaRPr kumimoji="1" lang="ja-JP" altLang="en-US" sz="1050" dirty="0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9847E5E4-1058-42F3-942A-4E224B78BDBB}"/>
              </a:ext>
            </a:extLst>
          </p:cNvPr>
          <p:cNvSpPr/>
          <p:nvPr/>
        </p:nvSpPr>
        <p:spPr>
          <a:xfrm rot="10800000">
            <a:off x="4878727" y="5048240"/>
            <a:ext cx="734627" cy="254498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AD929F6-69A6-470A-B4D4-A5175A1A008A}"/>
              </a:ext>
            </a:extLst>
          </p:cNvPr>
          <p:cNvSpPr/>
          <p:nvPr/>
        </p:nvSpPr>
        <p:spPr>
          <a:xfrm>
            <a:off x="5247419" y="1097452"/>
            <a:ext cx="2430684" cy="5676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5A21031-CB20-4A00-A7CC-FC4B713370A1}"/>
              </a:ext>
            </a:extLst>
          </p:cNvPr>
          <p:cNvSpPr txBox="1"/>
          <p:nvPr/>
        </p:nvSpPr>
        <p:spPr>
          <a:xfrm>
            <a:off x="5322526" y="1296274"/>
            <a:ext cx="15504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Dynamixel ID</a:t>
            </a:r>
            <a:r>
              <a:rPr lang="ja-JP" altLang="en-US" sz="1050" dirty="0"/>
              <a:t>割り振り</a:t>
            </a:r>
            <a:endParaRPr kumimoji="1" lang="ja-JP" altLang="en-US" sz="105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A406A2D-DB63-4BA2-8774-3C313D77C8C7}"/>
              </a:ext>
            </a:extLst>
          </p:cNvPr>
          <p:cNvSpPr txBox="1"/>
          <p:nvPr/>
        </p:nvSpPr>
        <p:spPr>
          <a:xfrm>
            <a:off x="5340519" y="1954327"/>
            <a:ext cx="12089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50" dirty="0"/>
              <a:t>初期角度</a:t>
            </a:r>
            <a:r>
              <a:rPr lang="en-US" altLang="ja-JP" sz="1050" dirty="0"/>
              <a:t>(Offset)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EB9DB93F-DBFF-4184-83A1-3FB5CD41DAD5}"/>
              </a:ext>
            </a:extLst>
          </p:cNvPr>
          <p:cNvSpPr/>
          <p:nvPr/>
        </p:nvSpPr>
        <p:spPr>
          <a:xfrm>
            <a:off x="5340519" y="2599622"/>
            <a:ext cx="155042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ja-JP" altLang="en-US" sz="1050" dirty="0">
                <a:solidFill>
                  <a:prstClr val="black"/>
                </a:solidFill>
              </a:rPr>
              <a:t>回転方法</a:t>
            </a:r>
            <a:r>
              <a:rPr lang="en-US" altLang="ja-JP" sz="1050" dirty="0">
                <a:solidFill>
                  <a:prstClr val="black"/>
                </a:solidFill>
              </a:rPr>
              <a:t>(CCW/CW)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C8DD7D82-D15A-46A5-9171-AB85DE8B879E}"/>
              </a:ext>
            </a:extLst>
          </p:cNvPr>
          <p:cNvSpPr/>
          <p:nvPr/>
        </p:nvSpPr>
        <p:spPr>
          <a:xfrm>
            <a:off x="5322526" y="2278240"/>
            <a:ext cx="232948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ja-JP" altLang="en-US" sz="1050" dirty="0">
                <a:solidFill>
                  <a:prstClr val="black"/>
                </a:solidFill>
              </a:rPr>
              <a:t>制御モード</a:t>
            </a:r>
            <a:r>
              <a:rPr lang="en-US" altLang="ja-JP" sz="1050" dirty="0">
                <a:solidFill>
                  <a:prstClr val="black"/>
                </a:solidFill>
              </a:rPr>
              <a:t>(</a:t>
            </a:r>
            <a:r>
              <a:rPr lang="ja-JP" altLang="en-US" sz="1050" dirty="0">
                <a:solidFill>
                  <a:prstClr val="black"/>
                </a:solidFill>
              </a:rPr>
              <a:t>角度、角速度、電流）</a:t>
            </a: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40AD4554-DEFE-40DE-AFA9-35E08182ED22}"/>
              </a:ext>
            </a:extLst>
          </p:cNvPr>
          <p:cNvSpPr/>
          <p:nvPr/>
        </p:nvSpPr>
        <p:spPr>
          <a:xfrm>
            <a:off x="5247419" y="1822817"/>
            <a:ext cx="2430684" cy="169877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5CE17B59-C983-48BB-9880-C0A5D5AAFAB9}"/>
              </a:ext>
            </a:extLst>
          </p:cNvPr>
          <p:cNvSpPr/>
          <p:nvPr/>
        </p:nvSpPr>
        <p:spPr>
          <a:xfrm>
            <a:off x="5340519" y="2944628"/>
            <a:ext cx="196880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ja-JP" altLang="en-US" sz="1050" dirty="0">
                <a:solidFill>
                  <a:prstClr val="black"/>
                </a:solidFill>
              </a:rPr>
              <a:t>動作モード</a:t>
            </a:r>
            <a:r>
              <a:rPr lang="en-US" altLang="ja-JP" sz="1050" dirty="0">
                <a:solidFill>
                  <a:prstClr val="black"/>
                </a:solidFill>
              </a:rPr>
              <a:t>(</a:t>
            </a:r>
            <a:r>
              <a:rPr lang="ja-JP" altLang="en-US" sz="1050" dirty="0">
                <a:solidFill>
                  <a:prstClr val="black"/>
                </a:solidFill>
              </a:rPr>
              <a:t>動作時間</a:t>
            </a:r>
            <a:r>
              <a:rPr lang="en-US" altLang="ja-JP" sz="1050" dirty="0">
                <a:solidFill>
                  <a:prstClr val="black"/>
                </a:solidFill>
              </a:rPr>
              <a:t>/</a:t>
            </a:r>
            <a:r>
              <a:rPr lang="ja-JP" altLang="en-US" sz="1050" dirty="0">
                <a:solidFill>
                  <a:prstClr val="black"/>
                </a:solidFill>
              </a:rPr>
              <a:t>角速度</a:t>
            </a:r>
            <a:r>
              <a:rPr lang="en-US" altLang="ja-JP" sz="1050" dirty="0">
                <a:solidFill>
                  <a:prstClr val="black"/>
                </a:solidFill>
              </a:rPr>
              <a:t>)</a:t>
            </a:r>
            <a:endParaRPr lang="ja-JP" altLang="en-US" sz="1050" dirty="0">
              <a:solidFill>
                <a:prstClr val="black"/>
              </a:solidFill>
            </a:endParaRP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1E9413F3-BFE1-4D36-BC4D-1BFF2E58F803}"/>
              </a:ext>
            </a:extLst>
          </p:cNvPr>
          <p:cNvCxnSpPr>
            <a:stCxn id="39" idx="1"/>
            <a:endCxn id="11" idx="3"/>
          </p:cNvCxnSpPr>
          <p:nvPr/>
        </p:nvCxnSpPr>
        <p:spPr>
          <a:xfrm flipH="1">
            <a:off x="2603448" y="2081285"/>
            <a:ext cx="2737071" cy="32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E922C625-F626-4A1A-BA72-5C222D51F027}"/>
              </a:ext>
            </a:extLst>
          </p:cNvPr>
          <p:cNvCxnSpPr>
            <a:stCxn id="41" idx="1"/>
            <a:endCxn id="10" idx="3"/>
          </p:cNvCxnSpPr>
          <p:nvPr/>
        </p:nvCxnSpPr>
        <p:spPr>
          <a:xfrm flipH="1">
            <a:off x="2694818" y="2405198"/>
            <a:ext cx="2627708" cy="31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4EBCE24D-2E77-490A-A3EC-E33471F93EC4}"/>
              </a:ext>
            </a:extLst>
          </p:cNvPr>
          <p:cNvCxnSpPr>
            <a:stCxn id="40" idx="1"/>
            <a:endCxn id="12" idx="3"/>
          </p:cNvCxnSpPr>
          <p:nvPr/>
        </p:nvCxnSpPr>
        <p:spPr>
          <a:xfrm flipH="1">
            <a:off x="2617874" y="2726580"/>
            <a:ext cx="2722645" cy="32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7CA0BDBD-CE50-4242-AA79-99C727986170}"/>
              </a:ext>
            </a:extLst>
          </p:cNvPr>
          <p:cNvCxnSpPr>
            <a:stCxn id="44" idx="1"/>
            <a:endCxn id="13" idx="3"/>
          </p:cNvCxnSpPr>
          <p:nvPr/>
        </p:nvCxnSpPr>
        <p:spPr>
          <a:xfrm flipH="1" flipV="1">
            <a:off x="3379013" y="3045286"/>
            <a:ext cx="1961506" cy="26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88766624-F6CD-4A22-8D2A-4F91ADF4E7BE}"/>
              </a:ext>
            </a:extLst>
          </p:cNvPr>
          <p:cNvCxnSpPr>
            <a:cxnSpLocks/>
            <a:stCxn id="31" idx="1"/>
            <a:endCxn id="16" idx="3"/>
          </p:cNvCxnSpPr>
          <p:nvPr/>
        </p:nvCxnSpPr>
        <p:spPr>
          <a:xfrm flipH="1">
            <a:off x="2389652" y="1381297"/>
            <a:ext cx="2857767" cy="1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810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172</Words>
  <Application>Microsoft Office PowerPoint</Application>
  <PresentationFormat>画面に合わせる (4:3)</PresentationFormat>
  <Paragraphs>38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鄭　聖熹</dc:creator>
  <cp:lastModifiedBy>鄭　聖熹</cp:lastModifiedBy>
  <cp:revision>47</cp:revision>
  <dcterms:created xsi:type="dcterms:W3CDTF">2025-06-27T02:19:20Z</dcterms:created>
  <dcterms:modified xsi:type="dcterms:W3CDTF">2025-06-27T04:09:07Z</dcterms:modified>
</cp:coreProperties>
</file>